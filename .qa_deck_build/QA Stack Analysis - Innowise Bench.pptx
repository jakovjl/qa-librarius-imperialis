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0"/>
            <a:ext cx="146304" cy="685800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DC6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INNOWISE · QA / AQA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54480"/>
            <a:ext cx="78638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Какой стек учить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QA/AQA-инженеру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F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Только Java — или нужен второй язык?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9CF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 реально видно в данных, а что — нет.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1148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5504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запросов (вся история)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24612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n≈95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246120" y="5504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рабочая выборка*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852160" y="49834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2023–2026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52160" y="550468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A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период данных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запросы за год, где язык явно назван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0" y="6035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1F1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05.06.2026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ГЛАВНЫЙ ВЫВОД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— да. Но не «только Java»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554480"/>
            <a:ext cx="11183112" cy="1188720"/>
          </a:xfrm>
          <a:prstGeom prst="rect">
            <a:avLst/>
          </a:prstGeom>
          <a:solidFill>
            <a:srgbClr val="1B1F1A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54480"/>
            <a:ext cx="146304" cy="11887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554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Учить Java — верно. Второй язык — разумно, но выбор 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8DC6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(JS/TS или Python)</a:t>
            </a:r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делается по экосистеме, а не из этих цифр.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02920" y="3063240"/>
            <a:ext cx="5440680" cy="1417320"/>
          </a:xfrm>
          <a:prstGeom prst="rect">
            <a:avLst/>
          </a:prstGeom>
          <a:solidFill>
            <a:srgbClr val="F2F5EC"/>
          </a:solidFill>
          <a:ln w="12700">
            <a:solidFill>
              <a:srgbClr val="E3E9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3063240"/>
            <a:ext cx="109728" cy="14173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27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не падает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64845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Топ-группа спроса, доля стабильна. Ядром оставить.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53912" y="3063240"/>
            <a:ext cx="5440680" cy="1417320"/>
          </a:xfrm>
          <a:prstGeom prst="rect">
            <a:avLst/>
          </a:prstGeom>
          <a:solidFill>
            <a:srgbClr val="F2F5EC"/>
          </a:solidFill>
          <a:ln w="12700">
            <a:solidFill>
              <a:srgbClr val="E3E9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53912" y="3063240"/>
            <a:ext cx="109728" cy="14173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322783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Но и не лидирует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28232" y="3648456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Java, Python, JS/TS статистически неразличимы — Java не впереди.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636008"/>
            <a:ext cx="5440680" cy="1417320"/>
          </a:xfrm>
          <a:prstGeom prst="rect">
            <a:avLst/>
          </a:prstGeom>
          <a:solidFill>
            <a:srgbClr val="F2F5EC"/>
          </a:solidFill>
          <a:ln w="12700">
            <a:solidFill>
              <a:srgbClr val="E3E9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636008"/>
            <a:ext cx="109728" cy="14173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Язык вторичен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77240" y="52212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из 5 запросов вообще не про язык, а про навык автоматизации.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153912" y="4636008"/>
            <a:ext cx="5440680" cy="1417320"/>
          </a:xfrm>
          <a:prstGeom prst="rect">
            <a:avLst/>
          </a:prstGeom>
          <a:solidFill>
            <a:srgbClr val="F2F5EC"/>
          </a:solidFill>
          <a:ln w="12700">
            <a:solidFill>
              <a:srgbClr val="E3E9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53912" y="4636008"/>
            <a:ext cx="109728" cy="141732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Второй — по вкусу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28232" y="52212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JS/TS (Playwright/веб) или Python (API/data) — данные не выбирают за тебя.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МЕТОДОЛОГИЯ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считали и чего данные НЕ говорят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777240" cy="777240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691640" y="164592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Данные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91640" y="208483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Bench-реестр Innowise: 1148 запросов клиентов (2023–2026) и 104 AQA-инженера на бенче. Это пайплайн одной компании, не «весь рынок».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777240" cy="777240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260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691640" y="2880360"/>
            <a:ext cx="9784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Рабочая выборка мала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91640" y="3319272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Язык назван лишь в 21% запросов. После среза «свежие + с языком» остаётся n≈95. Тонкие срезы — единицы (немецкий 21, Junior 4).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11109960" cy="1874520"/>
          </a:xfrm>
          <a:prstGeom prst="rect">
            <a:avLst/>
          </a:prstGeom>
          <a:solidFill>
            <a:srgbClr val="FBF3E7"/>
          </a:solidFill>
          <a:ln w="12700">
            <a:solidFill>
              <a:srgbClr val="E7C98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4297680"/>
            <a:ext cx="128016" cy="187452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5A1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Чего по этим данным утверждать НЕЛЬЗЯ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ранжировать Java / Python / JS-TS между собой — разница в пределах погрешности (±10 п.п.);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делать точные выводы о трендах по времени — старые тикеты заполнены беднее (артефакт тегирования);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опираться на тонкие срезы (немецкий, грейды, Kotlin) — там единицы наблюдений.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САМЫЙ НАДЁЖНЫЙ ФАКТ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Спрос почти не про язык</a:t>
            </a:r>
            <a:endParaRPr lang="en-US" sz="2900" dirty="0"/>
          </a:p>
        </p:txBody>
      </p:sp>
      <p:pic>
        <p:nvPicPr>
          <p:cNvPr id="5" name="Image 0" descr="D:\Obsidian store\knowledge base\.qa_deck_build\assets\chart_agnost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0200"/>
            <a:ext cx="548640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737360"/>
            <a:ext cx="5120640" cy="4297680"/>
          </a:xfrm>
          <a:prstGeom prst="rect">
            <a:avLst/>
          </a:prstGeom>
          <a:solidFill>
            <a:srgbClr val="F2F5EC"/>
          </a:solidFill>
          <a:ln/>
        </p:spPr>
      </p:sp>
      <p:sp>
        <p:nvSpPr>
          <p:cNvPr id="7" name="Shape 4"/>
          <p:cNvSpPr/>
          <p:nvPr/>
        </p:nvSpPr>
        <p:spPr>
          <a:xfrm>
            <a:off x="6583680" y="1737360"/>
            <a:ext cx="5120640" cy="1097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965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это значит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858000" y="237744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6F8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79% запросов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называют не язык, а 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вид работы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«Automation QA», «Manual QA», инструмент или домен.
</a:t>
            </a:r>
            <a:pPr indent="0" marL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Это вывод на полной выборке (n=1148) — поэтому надёжный.
</a:t>
            </a:r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B1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Практический смысл: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умение автоматизировать (фреймворк, SQL, API, CI) ценится выше, чем конкретный язык. Язык — инструмент под задачу.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ЯЗЫКИ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Тройка лидеров неотличима друг от друга</a:t>
            </a:r>
            <a:endParaRPr lang="en-US" sz="2900" dirty="0"/>
          </a:p>
        </p:txBody>
      </p:sp>
      <p:pic>
        <p:nvPicPr>
          <p:cNvPr id="5" name="Image 0" descr="D:\Obsidian store\knowledge base\.qa_deck_build\assets\chart_langti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7955280" cy="4572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503920" y="1645920"/>
            <a:ext cx="3200400" cy="4572000"/>
          </a:xfrm>
          <a:prstGeom prst="rect">
            <a:avLst/>
          </a:prstGeom>
          <a:solidFill>
            <a:srgbClr val="F2F5EC"/>
          </a:solidFill>
          <a:ln/>
        </p:spPr>
      </p:sp>
      <p:sp>
        <p:nvSpPr>
          <p:cNvPr id="7" name="Shape 4"/>
          <p:cNvSpPr/>
          <p:nvPr/>
        </p:nvSpPr>
        <p:spPr>
          <a:xfrm>
            <a:off x="8503920" y="1645920"/>
            <a:ext cx="3200400" cy="1097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8" name="Text 5"/>
          <p:cNvSpPr/>
          <p:nvPr/>
        </p:nvSpPr>
        <p:spPr>
          <a:xfrm>
            <a:off x="8732520" y="18288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Как читать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732520" y="2240280"/>
            <a:ext cx="2788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i="1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Усы — 95% доверительный интервал.
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6F8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Java, Python, JS/TS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интервалы перекрываются: ранжировать их нельзя, это один тир.
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/ Kotlin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заметно ниже, нишевые.
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Вывод: моноязык покрывает ~⅓ языковых запросов из трёх равных.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ВИДЫ ТЕСТИРОВАНИЯ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стабильно, а что появляется</a:t>
            </a:r>
            <a:endParaRPr lang="en-US" sz="2900" dirty="0"/>
          </a:p>
        </p:txBody>
      </p:sp>
      <p:pic>
        <p:nvPicPr>
          <p:cNvPr id="5" name="Image 0" descr="D:\Obsidian store\knowledge base\.qa_deck_build\assets\chart_test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804672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8064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Доля внутри тикетов, где вид указан (нормировка убирает перекос: старые тикеты тегированы беднее). 2023 исключён — всего 11 упоминаний.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8549640" y="1600200"/>
            <a:ext cx="3154680" cy="4663440"/>
          </a:xfrm>
          <a:prstGeom prst="rect">
            <a:avLst/>
          </a:prstGeom>
          <a:solidFill>
            <a:srgbClr val="F2F5EC"/>
          </a:solidFill>
          <a:ln/>
        </p:spPr>
      </p:sp>
      <p:sp>
        <p:nvSpPr>
          <p:cNvPr id="8" name="Shape 5"/>
          <p:cNvSpPr/>
          <p:nvPr/>
        </p:nvSpPr>
        <p:spPr>
          <a:xfrm>
            <a:off x="8549640" y="1600200"/>
            <a:ext cx="3154680" cy="1097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9" name="Text 6"/>
          <p:cNvSpPr/>
          <p:nvPr/>
        </p:nvSpPr>
        <p:spPr>
          <a:xfrm>
            <a:off x="8778240" y="1783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реально видно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0" y="2194560"/>
            <a:ext cx="27432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6F8C1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Performance и Security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с нуля до 7–8%. Новые специализации.
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▼ Mobile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доля снижается.
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▬ Automation / Manual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стабильно ~60/40 в пользу авто (давно, не «рост»).
</a:t>
            </a:r>
            <a:pPr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B552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✕ Accessibility</a:t>
            </a:r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спроса нет (нули).
</a:t>
            </a:r>
            <a:pPr indent="0" marL="0">
              <a:lnSpc>
                <a:spcPct val="108000"/>
              </a:lnSpc>
              <a:buNone/>
            </a:pPr>
            <a:r>
              <a:rPr lang="en-US" sz="1200" i="1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Числа малы (Perf 25, Sec 15) — сигнал, не доказательство.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Чем владеет команда на бенче</a:t>
            </a:r>
            <a:endParaRPr lang="en-US" sz="2900" dirty="0"/>
          </a:p>
        </p:txBody>
      </p:sp>
      <p:pic>
        <p:nvPicPr>
          <p:cNvPr id="5" name="Image 0" descr="D:\Obsidian store\knowledge base\.qa_deck_build\assets\chart_suppl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91640"/>
            <a:ext cx="676656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15000"/>
            <a:ext cx="6766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Рабочий уровень = High + Medium (Low и «на проверке» исключены). На бенче JS/TS впереди Java по реально применимому навыку.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589520" y="1691640"/>
            <a:ext cx="4114800" cy="4526280"/>
          </a:xfrm>
          <a:prstGeom prst="rect">
            <a:avLst/>
          </a:prstGeom>
          <a:solidFill>
            <a:srgbClr val="1B1F1A"/>
          </a:solidFill>
          <a:ln/>
        </p:spPr>
      </p:sp>
      <p:sp>
        <p:nvSpPr>
          <p:cNvPr id="8" name="Shape 5"/>
          <p:cNvSpPr/>
          <p:nvPr/>
        </p:nvSpPr>
        <p:spPr>
          <a:xfrm>
            <a:off x="7589520" y="1691640"/>
            <a:ext cx="4114800" cy="1097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1488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83%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7818120" y="32918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AQA-инженеров владеют двумя и более языками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818120" y="425196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9CF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Типичный реальный стек: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9CF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+ JS/TS + Python.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9CFC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Полиглотизм — норма, а не исключение.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КОГО БЕРУТ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Грейды и английский</a:t>
            </a:r>
            <a:endParaRPr lang="en-US" sz="2900" dirty="0"/>
          </a:p>
        </p:txBody>
      </p:sp>
      <p:pic>
        <p:nvPicPr>
          <p:cNvPr id="5" name="Image 0" descr="D:\Obsidian store\knowledge base\.qa_deck_build\assets\chart_gr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6400800" cy="3840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5321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i="1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Тренд понятен — берут опытных (Senior/Middle), джунов почти нет. Но абсолютные числа малы — точные доли не выводим.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223760" y="1645920"/>
            <a:ext cx="4480560" cy="4526280"/>
          </a:xfrm>
          <a:prstGeom prst="rect">
            <a:avLst/>
          </a:prstGeom>
          <a:solidFill>
            <a:srgbClr val="F2F5EC"/>
          </a:solidFill>
          <a:ln/>
        </p:spPr>
      </p:sp>
      <p:sp>
        <p:nvSpPr>
          <p:cNvPr id="8" name="Shape 5"/>
          <p:cNvSpPr/>
          <p:nvPr/>
        </p:nvSpPr>
        <p:spPr>
          <a:xfrm>
            <a:off x="7223760" y="1645920"/>
            <a:ext cx="4480560" cy="1097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0" y="18288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Языки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98080" y="2286000"/>
            <a:ext cx="2011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6F8C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B2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498080" y="320040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английский — самый частый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порог в запросах (надёжно)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98080" y="4114800"/>
            <a:ext cx="3931920" cy="0"/>
          </a:xfrm>
          <a:prstGeom prst="line">
            <a:avLst/>
          </a:prstGeom>
          <a:noFill/>
          <a:ln w="12700">
            <a:solidFill>
              <a:srgbClr val="DDE4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4251960"/>
            <a:ext cx="39319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1B1F1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Немецкий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встречается, но всего в 21 запросе. Возможный бонус, но как тренд — не доказательство.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ПОМИМО ЯЗЫКА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Обязательный фундамент AQA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109960" cy="82296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82296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/ Базы данных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754880" y="169164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Проверка данных в БД — встречается в запросах чаще любого языка.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2624328"/>
            <a:ext cx="11109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624328"/>
            <a:ext cx="91440" cy="82296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24328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REST / API + Postman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54880" y="2624328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Тестирование бэкенда и интеграций; базовый навык для любого стека.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557016"/>
            <a:ext cx="11109960" cy="82296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557016"/>
            <a:ext cx="91440" cy="82296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57016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Selenium / Playwright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754880" y="3557016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Веб-автоматизация. Selenium — классика, Playwright — современный выбор.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489704"/>
            <a:ext cx="11109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89704"/>
            <a:ext cx="91440" cy="82296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89704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Git + CI/CD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4754880" y="4489704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Версионирование и автозапуск тестов — ожидается по умолчанию.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422392"/>
            <a:ext cx="11109960" cy="82296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422392"/>
            <a:ext cx="91440" cy="82296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4223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Docker (минимум)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754880" y="5422392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Поднять окружение, запустить тесты в контейнере.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SOFT SKILLS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Что ценят кроме кода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201168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993392"/>
            <a:ext cx="566928" cy="56692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Английский B2+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0358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Бенч продаётся «лицом»: созвоны, интервью с клиентом — без языка не продают.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79392" y="1737360"/>
            <a:ext cx="3520440" cy="201168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35424" y="1993392"/>
            <a:ext cx="566928" cy="56692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35424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Коммуникация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35424" y="30358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Обсудить требования, задать вопросы, защитить баг — ежедневно с заказчиком.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10144" y="1737360"/>
            <a:ext cx="3520440" cy="201168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66176" y="1993392"/>
            <a:ext cx="566928" cy="56692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66176" y="19933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66176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Работа с требованиями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66176" y="303580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Понять и уточнить ТЗ, найти противоречия раньше, чем баг уйдёт в прод.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520440" cy="201168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233672"/>
            <a:ext cx="566928" cy="56692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04672" y="4892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Самоорганизация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4672" y="527608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Удалёнка и несколько проектов: дисциплина и self-management обязательны.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279392" y="3977640"/>
            <a:ext cx="3520440" cy="201168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35424" y="4233672"/>
            <a:ext cx="566928" cy="56692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27" name="Text 25"/>
          <p:cNvSpPr/>
          <p:nvPr/>
        </p:nvSpPr>
        <p:spPr>
          <a:xfrm>
            <a:off x="4535424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4535424" y="4892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Гибкость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35424" y="527608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Готовность ко 2-му проекту, иногда вечерним/ночным сменам — плюс при продаже.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10144" y="3977640"/>
            <a:ext cx="3520440" cy="2011680"/>
          </a:xfrm>
          <a:prstGeom prst="rect">
            <a:avLst/>
          </a:prstGeom>
          <a:solidFill>
            <a:srgbClr val="F2F5EC"/>
          </a:solidFill>
          <a:ln w="12700">
            <a:solidFill>
              <a:srgbClr val="E7EC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66176" y="4233672"/>
            <a:ext cx="566928" cy="566928"/>
          </a:xfrm>
          <a:prstGeom prst="ellipse">
            <a:avLst/>
          </a:prstGeom>
          <a:solidFill>
            <a:srgbClr val="8DC63F"/>
          </a:solidFill>
          <a:ln/>
        </p:spPr>
      </p:sp>
      <p:sp>
        <p:nvSpPr>
          <p:cNvPr id="32" name="Text 30"/>
          <p:cNvSpPr/>
          <p:nvPr/>
        </p:nvSpPr>
        <p:spPr>
          <a:xfrm>
            <a:off x="8266176" y="42336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266176" y="48920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Обучаемость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266176" y="5276088"/>
            <a:ext cx="3063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Стек меняется (Playwright, Perf/Security): важно быстро осваивать новое.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ОТВЕТ НА ВОПРОС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Только Java или Java + второй язык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94960" cy="3977640"/>
          </a:xfrm>
          <a:prstGeom prst="rect">
            <a:avLst/>
          </a:prstGeom>
          <a:solidFill>
            <a:srgbClr val="F2F5EC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Только Java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Java стабильна, входит в топ-группу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глубокая экспертиза в одном стеке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Java не лидирует — закрывает ~⅓ языковых запросов из трёх равных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мимо Playwright-стека (он JS-родной)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на бенче ты как все, кто на Java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94960" cy="3977640"/>
          </a:xfrm>
          <a:prstGeom prst="rect">
            <a:avLst/>
          </a:prstGeom>
          <a:solidFill>
            <a:srgbClr val="1B1F1A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1691640"/>
            <a:ext cx="5394960" cy="14630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+ второй язык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37960" y="2468880"/>
            <a:ext cx="4892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3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закрываешь два из трёх равных тиров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3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полиглот — как 83% бенча, продаёшься легче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3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 JS/TS открывает Playwright; Python — API/data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3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больше учить на старте
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DE3D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  выбор языка данные не решают — решает экосистема и твой интерес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897880"/>
            <a:ext cx="11109960" cy="566928"/>
          </a:xfrm>
          <a:prstGeom prst="rect">
            <a:avLst/>
          </a:prstGeom>
          <a:solidFill>
            <a:srgbClr val="F2F5EC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5897880"/>
            <a:ext cx="109728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5897880"/>
            <a:ext cx="10698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Рекомендация:  </a:t>
            </a:r>
            <a:pPr indent="0" marL="0">
              <a:buNone/>
            </a:pPr>
            <a:r>
              <a:rPr lang="en-US" sz="1250" dirty="0">
                <a:solidFill>
                  <a:srgbClr val="2D2D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сначала Java + база (SQL/REST) + English B2. Второй язык — позже и по экосистеме: JS/TS под веб/Playwright, Python под API/data.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118872" cy="566928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420624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ДОРОЖНАЯ КАРТА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94944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План обучения для трейни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139696" cy="3840480"/>
          </a:xfrm>
          <a:prstGeom prst="rect">
            <a:avLst/>
          </a:prstGeom>
          <a:solidFill>
            <a:srgbClr val="8DC63F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94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2380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СЕЙЧАС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2578608"/>
            <a:ext cx="603504" cy="603504"/>
          </a:xfrm>
          <a:prstGeom prst="ellipse">
            <a:avLst/>
          </a:prstGeom>
          <a:solidFill>
            <a:srgbClr val="1B1F1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5786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33375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Добить базу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3232" y="4160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+ Selenium + JUnit, SQL, REST/API, Git. Это уже продаёт.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52344" y="2011680"/>
            <a:ext cx="2139696" cy="3840480"/>
          </a:xfrm>
          <a:prstGeom prst="rect">
            <a:avLst/>
          </a:prstGeom>
          <a:solidFill>
            <a:srgbClr val="8DC63F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16936" y="2194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12380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ПАРАЛЛЕЛЬНО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16936" y="2578608"/>
            <a:ext cx="603504" cy="603504"/>
          </a:xfrm>
          <a:prstGeom prst="ellipse">
            <a:avLst/>
          </a:prstGeom>
          <a:solidFill>
            <a:srgbClr val="1B1F1A"/>
          </a:solidFill>
          <a:ln/>
        </p:spPr>
      </p:sp>
      <p:sp>
        <p:nvSpPr>
          <p:cNvPr id="14" name="Text 12"/>
          <p:cNvSpPr/>
          <p:nvPr/>
        </p:nvSpPr>
        <p:spPr>
          <a:xfrm>
            <a:off x="2916936" y="25786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16936" y="33375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English до B2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16936" y="4160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Самый частый порог в запросах — язык идёт фоном с первого дня.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56048" y="2011680"/>
            <a:ext cx="2139696" cy="3840480"/>
          </a:xfrm>
          <a:prstGeom prst="rect">
            <a:avLst/>
          </a:prstGeom>
          <a:solidFill>
            <a:srgbClr val="F2F5EC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2194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ШАГ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120640" y="2578608"/>
            <a:ext cx="603504" cy="603504"/>
          </a:xfrm>
          <a:prstGeom prst="ellipse">
            <a:avLst/>
          </a:prstGeom>
          <a:solidFill>
            <a:srgbClr val="1B1F1A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25786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120640" y="33375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Второй язык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20640" y="4160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JS/TS (под Playwright/веб) или Python (под API/data) — по интересу.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59752" y="2011680"/>
            <a:ext cx="2139696" cy="3840480"/>
          </a:xfrm>
          <a:prstGeom prst="rect">
            <a:avLst/>
          </a:prstGeom>
          <a:solidFill>
            <a:srgbClr val="F2F5EC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24344" y="2194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ШАГ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24344" y="2578608"/>
            <a:ext cx="603504" cy="603504"/>
          </a:xfrm>
          <a:prstGeom prst="ellipse">
            <a:avLst/>
          </a:prstGeom>
          <a:solidFill>
            <a:srgbClr val="1B1F1A"/>
          </a:solidFill>
          <a:ln/>
        </p:spPr>
      </p:sp>
      <p:sp>
        <p:nvSpPr>
          <p:cNvPr id="26" name="Text 24"/>
          <p:cNvSpPr/>
          <p:nvPr/>
        </p:nvSpPr>
        <p:spPr>
          <a:xfrm>
            <a:off x="7324344" y="25786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24344" y="33375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DevOps-минимум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24344" y="4160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Docker и CI/CD: поднять окружение, гонять тесты в пайплайне.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363456" y="2011680"/>
            <a:ext cx="2139696" cy="3840480"/>
          </a:xfrm>
          <a:prstGeom prst="rect">
            <a:avLst/>
          </a:prstGeom>
          <a:solidFill>
            <a:srgbClr val="F2F5EC"/>
          </a:solidFill>
          <a:ln w="12700">
            <a:solidFill>
              <a:srgbClr val="E2E8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28048" y="2194560"/>
            <a:ext cx="1810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6F8C1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ОПЦ.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28048" y="2578608"/>
            <a:ext cx="603504" cy="603504"/>
          </a:xfrm>
          <a:prstGeom prst="ellipse">
            <a:avLst/>
          </a:prstGeom>
          <a:solidFill>
            <a:srgbClr val="1B1F1A"/>
          </a:solidFill>
          <a:ln/>
        </p:spPr>
      </p:sp>
      <p:sp>
        <p:nvSpPr>
          <p:cNvPr id="32" name="Text 30"/>
          <p:cNvSpPr/>
          <p:nvPr/>
        </p:nvSpPr>
        <p:spPr>
          <a:xfrm>
            <a:off x="9528048" y="2578608"/>
            <a:ext cx="60350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DC63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528048" y="3337560"/>
            <a:ext cx="18105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dirty="0">
                <a:solidFill>
                  <a:srgbClr val="1B1F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Узкая ниша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28048" y="4160520"/>
            <a:ext cx="18105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 или Security — растущие специализации, выше ставка.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4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Innowise · Анализ bench-реестра QA/AQA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8473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8DC6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ИТОГ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— да. Но не только Java.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350008"/>
            <a:ext cx="237744" cy="23774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6" name="Text 4"/>
          <p:cNvSpPr/>
          <p:nvPr/>
        </p:nvSpPr>
        <p:spPr>
          <a:xfrm>
            <a:off x="1170432" y="221284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7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 не падает — оставляй ядром. Но она не лидирует: тир с Python и JS/TS неразличим.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237744" cy="23774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8" name="Text 6"/>
          <p:cNvSpPr/>
          <p:nvPr/>
        </p:nvSpPr>
        <p:spPr>
          <a:xfrm>
            <a:off x="1170432" y="29260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7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из 5 запросов вообще не про язык → вкладывайся в AQA-навык (SQL, API, фреймворки) + English B2.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776472"/>
            <a:ext cx="237744" cy="23774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0" name="Text 8"/>
          <p:cNvSpPr/>
          <p:nvPr/>
        </p:nvSpPr>
        <p:spPr>
          <a:xfrm>
            <a:off x="1170432" y="363931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7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Второй язык полезен, но данные не выбирают: JS/TS под Playwright/веб, Python под API/data.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4489704"/>
            <a:ext cx="237744" cy="23774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2" name="Text 10"/>
          <p:cNvSpPr/>
          <p:nvPr/>
        </p:nvSpPr>
        <p:spPr>
          <a:xfrm>
            <a:off x="1170432" y="435254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2E7D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Из растущего — Performance и Security (с нуля). Mobile проседает, Accessibility — нет спроса.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28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Данные — пайплайн Innowise, рабочая выборка n≈95: выводы индикативные, направление, а не точные доли.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DC63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 этой неделе: продолжить Java + SQL/REST, начать ежедневный английский, присмотреть второй язык.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2026-06-05T13:44:08Z</dcterms:created>
  <dcterms:modified xsi:type="dcterms:W3CDTF">2026-06-05T13:44:08Z</dcterms:modified>
</cp:coreProperties>
</file>